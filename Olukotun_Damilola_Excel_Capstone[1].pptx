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B1F3A"/>
                </a:solidFill>
                <a:latin typeface="Arial"/>
              </a:rPr>
              <a:t>Passengers with Siblings/Spouse Aboard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Siblings/Spouse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43-4F7E-86C3-B542CCA7E577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43-4F7E-86C3-B542CCA7E577}"/>
              </c:ext>
            </c:extLst>
          </c:dPt>
          <c:dPt>
            <c:idx val="2"/>
            <c:bubble3D val="0"/>
            <c:spPr>
              <a:solidFill>
                <a:srgbClr val="CFE8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43-4F7E-86C3-B542CCA7E577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43-4F7E-86C3-B542CCA7E577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43-4F7E-86C3-B542CCA7E577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43-4F7E-86C3-B542CCA7E577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Class</c:v>
                </c:pt>
                <c:pt idx="1">
                  <c:v>2nd Class</c:v>
                </c:pt>
                <c:pt idx="2">
                  <c:v>3rd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27.27</c:v>
                </c:pt>
                <c:pt idx="1">
                  <c:v>18.72</c:v>
                </c:pt>
                <c:pt idx="2">
                  <c:v>54.01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F43-4F7E-86C3-B542CCA7E5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B1F3A"/>
                </a:solidFill>
                <a:latin typeface="Arial"/>
              </a:rPr>
              <a:t>Passengers with Parent/Children Aboard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Parent/Children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87-4AD0-8F55-BC5E17C36C01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87-4AD0-8F55-BC5E17C36C01}"/>
              </c:ext>
            </c:extLst>
          </c:dPt>
          <c:dPt>
            <c:idx val="2"/>
            <c:bubble3D val="0"/>
            <c:spPr>
              <a:solidFill>
                <a:srgbClr val="CFE8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87-4AD0-8F55-BC5E17C36C01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87-4AD0-8F55-BC5E17C36C01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87-4AD0-8F55-BC5E17C36C01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A87-4AD0-8F55-BC5E17C36C01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Class</c:v>
                </c:pt>
                <c:pt idx="1">
                  <c:v>2nd Class</c:v>
                </c:pt>
                <c:pt idx="2">
                  <c:v>3rd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19.510000000000002</c:v>
                </c:pt>
                <c:pt idx="2">
                  <c:v>55.49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A87-4AD0-8F55-BC5E17C36C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952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12188952" cy="251460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447040" y="4160520"/>
            <a:ext cx="3190240" cy="71628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160520"/>
            <a:ext cx="3657600" cy="91440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4160520"/>
            <a:ext cx="3657600" cy="91440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4114800"/>
            <a:ext cx="3657600" cy="96012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Titanic Passenger</a:t>
            </a:r>
            <a:endParaRPr lang="en-US" sz="4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6080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Olukotun Damilola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709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was built and what it set out to answer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6426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9900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dataset, structure, and Excel techniques used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55701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35753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92277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consolidated, interactive Excel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507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85546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survival, fare, and family patterns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2239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5440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7881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us, and where to go from here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Passenger Records Into Insight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project uses Microsoft Excel to transform a 418 passenger Titanic dataset into a clear, interactive analytical story.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140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structure a real-world dataset for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0723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54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990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PivotTables across gender, class, age group &amp; embarkation 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7307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6484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PivotCharts to visualize each summary clearly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70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3068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every chart into one interactive Excel dashboard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0474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29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965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data-driven conclusions on who was most likely to survive and why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Behind the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7FA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records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8986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passenger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4655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7452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0325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74520" y="41056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embarkation ports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45994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74520" y="46725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257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Passenger ID, Name, Sex, Age, Age Group, Survived, Class, Siblings/Spouse, Parents/Children, Ticket Number, Fare, Embarkation Port.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2386584"/>
            <a:ext cx="128016" cy="128016"/>
          </a:xfrm>
          <a:prstGeom prst="rect">
            <a:avLst/>
          </a:prstGeom>
          <a:solidFill>
            <a:srgbClr val="E8B1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2768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raw data for completeness (1 missing fare identified)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008376"/>
            <a:ext cx="128016" cy="128016"/>
          </a:xfrm>
          <a:prstGeom prst="rect">
            <a:avLst/>
          </a:prstGeom>
          <a:solidFill>
            <a:srgbClr val="E8B1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8986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PivotTables summarizing counts &amp; survival by key dimensions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630168"/>
            <a:ext cx="128016" cy="128016"/>
          </a:xfrm>
          <a:prstGeom prst="rect">
            <a:avLst/>
          </a:prstGeom>
          <a:solidFill>
            <a:srgbClr val="E8B1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520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PivotCharts directly from each PivotTable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251960"/>
            <a:ext cx="128016" cy="128016"/>
          </a:xfrm>
          <a:prstGeom prst="rect">
            <a:avLst/>
          </a:prstGeom>
          <a:solidFill>
            <a:srgbClr val="E8B14A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1422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KPIs &amp; charts into one Dashboard 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873752"/>
            <a:ext cx="128016" cy="128016"/>
          </a:xfrm>
          <a:prstGeom prst="rect">
            <a:avLst/>
          </a:prstGeom>
          <a:solidFill>
            <a:srgbClr val="E8B1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7640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Class &amp; Survival slicers for interactive filtering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View, Every Insight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A3128-D5B7-5E47-BD0B-35474A86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247120" cy="5212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Was Aboard</a:t>
            </a:r>
            <a:endParaRPr lang="en-US" sz="2700" dirty="0"/>
          </a:p>
        </p:txBody>
      </p:sp>
      <p:sp>
        <p:nvSpPr>
          <p:cNvPr id="7" name="Shape 2"/>
          <p:cNvSpPr/>
          <p:nvPr/>
        </p:nvSpPr>
        <p:spPr>
          <a:xfrm>
            <a:off x="548640" y="4206240"/>
            <a:ext cx="11018520" cy="1828800"/>
          </a:xfrm>
          <a:prstGeom prst="roundRect">
            <a:avLst>
              <a:gd name="adj" fmla="val 3000"/>
            </a:avLst>
          </a:prstGeom>
          <a:solidFill>
            <a:srgbClr val="F3F7FA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22960" y="4370832"/>
            <a:ext cx="10469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male / 152 female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passengers — nearly two-thirds of the manifest was male.
</a:t>
            </a: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Class was the largest group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218 passengers (52.2%), more than 1st and 2nd Class combined.
</a:t>
            </a: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Southampton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dominant port of embarkation, accounting for 270 of 418 passengers (64.6%).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2A8EAD-B806-2682-0B02-0025C003E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958" y="1344168"/>
            <a:ext cx="2781443" cy="25369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243B1D-C66B-AEDF-3CBC-94C562360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043" y="1344168"/>
            <a:ext cx="2933851" cy="2536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4437EF-79F2-7D93-4229-6D2A6218B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40" y="1344168"/>
            <a:ext cx="2914800" cy="2536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Was Split Almost Entirely by Gender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0F2A4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female passengers survived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of 152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3A1518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2B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58368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male passengers survived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3611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89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266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is, by a wide margin, the single strongest predictor of survival in this dataset — outweighing class, age, and fare combined.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Tracked Tightly With Class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7F75C549-F69C-C8D9-2DE4-FABFDA7BF64D}"/>
              </a:ext>
            </a:extLst>
          </p:cNvPr>
          <p:cNvSpPr/>
          <p:nvPr/>
        </p:nvSpPr>
        <p:spPr>
          <a:xfrm>
            <a:off x="1772920" y="1527048"/>
            <a:ext cx="4206240" cy="4297680"/>
          </a:xfrm>
          <a:prstGeom prst="roundRect">
            <a:avLst>
              <a:gd name="adj" fmla="val 1702"/>
            </a:avLst>
          </a:prstGeom>
          <a:solidFill>
            <a:srgbClr val="F3F7FA"/>
          </a:solidFill>
          <a:ln w="12700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7938A16E-D46A-C97E-883D-7E1084F54730}"/>
              </a:ext>
            </a:extLst>
          </p:cNvPr>
          <p:cNvSpPr/>
          <p:nvPr/>
        </p:nvSpPr>
        <p:spPr>
          <a:xfrm>
            <a:off x="2235200" y="1755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Facts</a:t>
            </a:r>
            <a:endParaRPr lang="en-US" sz="16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D53B0B04-C6B2-77BA-44AE-C124F482DA67}"/>
              </a:ext>
            </a:extLst>
          </p:cNvPr>
          <p:cNvSpPr/>
          <p:nvPr/>
        </p:nvSpPr>
        <p:spPr>
          <a:xfrm>
            <a:off x="2235200" y="23042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€ 35.58</a:t>
            </a:r>
            <a:endParaRPr lang="en-US" sz="18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326BF0E-FF24-E46B-B0BC-015A93A23749}"/>
              </a:ext>
            </a:extLst>
          </p:cNvPr>
          <p:cNvSpPr/>
          <p:nvPr/>
        </p:nvSpPr>
        <p:spPr>
          <a:xfrm>
            <a:off x="2235200" y="268833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fare, all classes</a:t>
            </a:r>
            <a:endParaRPr lang="en-US" sz="12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08D3F4F-AB68-2D01-7EC4-D92AEEA0E283}"/>
              </a:ext>
            </a:extLst>
          </p:cNvPr>
          <p:cNvSpPr/>
          <p:nvPr/>
        </p:nvSpPr>
        <p:spPr>
          <a:xfrm>
            <a:off x="2235200" y="32369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€ 0 – € 512.30</a:t>
            </a:r>
            <a:endParaRPr lang="en-US" sz="18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A6FCE0-7C55-7B60-2BB3-1EA000E600B1}"/>
              </a:ext>
            </a:extLst>
          </p:cNvPr>
          <p:cNvSpPr/>
          <p:nvPr/>
        </p:nvSpPr>
        <p:spPr>
          <a:xfrm>
            <a:off x="2235200" y="36210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range across the manifest</a:t>
            </a:r>
            <a:endParaRPr lang="en-US" sz="1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DB958850-2095-A9C7-5EA3-53175A863AB8}"/>
              </a:ext>
            </a:extLst>
          </p:cNvPr>
          <p:cNvSpPr/>
          <p:nvPr/>
        </p:nvSpPr>
        <p:spPr>
          <a:xfrm>
            <a:off x="2235200" y="41696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7.6x</a:t>
            </a:r>
            <a:endParaRPr lang="en-US" sz="18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242B078-0696-63C5-2E03-21A0015BCE53}"/>
              </a:ext>
            </a:extLst>
          </p:cNvPr>
          <p:cNvSpPr/>
          <p:nvPr/>
        </p:nvSpPr>
        <p:spPr>
          <a:xfrm>
            <a:off x="2235200" y="4553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vs. 3rd Class average fare gap</a:t>
            </a:r>
            <a:endParaRPr lang="en-US" sz="12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056B5B0C-B131-2E6D-EC90-D0B5E475F9E2}"/>
              </a:ext>
            </a:extLst>
          </p:cNvPr>
          <p:cNvSpPr/>
          <p:nvPr/>
        </p:nvSpPr>
        <p:spPr>
          <a:xfrm>
            <a:off x="2235200" y="51023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Right-skewed</a:t>
            </a:r>
            <a:endParaRPr lang="en-US" sz="1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565809BF-CF1C-60F5-19EE-B7311E67D6C9}"/>
              </a:ext>
            </a:extLst>
          </p:cNvPr>
          <p:cNvSpPr/>
          <p:nvPr/>
        </p:nvSpPr>
        <p:spPr>
          <a:xfrm>
            <a:off x="2235200" y="5486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— driven by a handful of high 1st Class fares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Travelled Overwhelmingly in 3rd Class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69164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F2A4A"/>
          </a:solidFill>
          <a:ln w="9525">
            <a:solidFill>
              <a:srgbClr val="1C3F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274320" cy="274320"/>
          </a:xfrm>
          <a:prstGeom prst="ellipse">
            <a:avLst/>
          </a:prstGeom>
          <a:solidFill>
            <a:srgbClr val="E8B14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46504"/>
            <a:ext cx="10195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was the dominant survival factor — 100% of female passengers survived vs. 0% of male passengers.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F2A4A"/>
          </a:solidFill>
          <a:ln w="9525">
            <a:solidFill>
              <a:srgbClr val="1C3F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07208"/>
            <a:ext cx="274320" cy="274320"/>
          </a:xfrm>
          <a:prstGeom prst="ellipse">
            <a:avLst/>
          </a:prstGeom>
          <a:solidFill>
            <a:srgbClr val="E8B14A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642616"/>
            <a:ext cx="10195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 passengers survived at nearly 1.5x the rate of 2nd or 3rd Class (46.7% vs. ~33%).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F2A4A"/>
          </a:solidFill>
          <a:ln w="9525">
            <a:solidFill>
              <a:srgbClr val="1C3F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703320"/>
            <a:ext cx="274320" cy="274320"/>
          </a:xfrm>
          <a:prstGeom prst="ellipse">
            <a:avLst/>
          </a:prstGeom>
          <a:solidFill>
            <a:srgbClr val="E8B1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538728"/>
            <a:ext cx="10195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Class carried the most passengers but paid the least and survived least — a compounding disadvantage.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F2A4A"/>
          </a:solidFill>
          <a:ln w="9525">
            <a:solidFill>
              <a:srgbClr val="1C3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99432"/>
            <a:ext cx="274320" cy="274320"/>
          </a:xfrm>
          <a:prstGeom prst="ellipse">
            <a:avLst/>
          </a:prstGeom>
          <a:solidFill>
            <a:srgbClr val="E8B1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434840"/>
            <a:ext cx="10195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and Teenage passengers had the highest survival rates by age group, though on smaller sample sizes.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760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F2A4A"/>
          </a:solidFill>
          <a:ln w="9525">
            <a:solidFill>
              <a:srgbClr val="1C3F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495544"/>
            <a:ext cx="274320" cy="274320"/>
          </a:xfrm>
          <a:prstGeom prst="ellipse">
            <a:avLst/>
          </a:prstGeom>
          <a:solidFill>
            <a:srgbClr val="E8B14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5330952"/>
            <a:ext cx="10195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Southampton, the busiest port, also had the lowest survival rate — driven by its passenger mix.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628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damilola olukotun</cp:lastModifiedBy>
  <cp:revision>2</cp:revision>
  <dcterms:created xsi:type="dcterms:W3CDTF">2026-07-20T21:01:03Z</dcterms:created>
  <dcterms:modified xsi:type="dcterms:W3CDTF">2026-07-20T22:39:55Z</dcterms:modified>
</cp:coreProperties>
</file>